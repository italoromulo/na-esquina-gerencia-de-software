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815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(~50s) Apresentar: somos a equipe Na Esquina, ADS Unisuam. O problema: vendedores ambulantes e pequenos pontos de rua dependem de quem passa na frente; não têm vitrine digital e o ponto/horário muda. Do outro lado, o consumidor não sabe o que existe perto e se está aberto agora. Fechar com o dado de informalidade (próximo slide aprofunda).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(~50s) Três blocos: (1) dado público que dimensiona o problema; (2) a nossa base no Supabase, preencher os números reais antes de apresentar; (3) decisões que os dados já geraram no produto: categorias com pins, filtros por distância, preço médio e nota. Reforçar: dados geram decisão (Regra 3 do edital).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(~45s) Cliente abre o app, vê no mapa quem está vendendo perto, filtra por categoria, vê cardápio e avaliações e traça a rota. O vendedor cadastra a loja e liga e desliga o status vendendo agora. Diferencial: foco no ponto de rua e na proximidade em tempo real, e mapa livre baseado em OpenStreetMap, sem custo de licença de mapa.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(~55s) Fazer a demo ao vivo aqui, se possível: abrir o app, mostrar o mapa com pins, tocar em um vendedor, mostrar cardápio e traçar rota; depois mostrar o painel do vendedor ligando o status. Ter prints de reserva caso a internet falhe. Fluxo detalhado no catálogo de telas.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(~40s) Arquitetura em três blocos: app Expo/React Native, Supabase como backend (auth, banco, storage) e a stack aberta de mapas. Execução em 4 Sprints de 1 semana, de 12/10 a 06/11, depois validação com usuários e entrega em 22/11. Monitoramento por backlog concluído e velocidade.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(~40s) Destacar os dois mais críticos: adoção pelos vendedores (sem vendedor não há mapa) e dependência de serviços gratuitos de mapa e rota. Dizer que o registro completo de riscos está no documento do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(~40s) Modelo freemium: cadastro gratuito para o vendedor, receita com destaque e promoções (o app já tem Destaques e promoções), anúncios locais e relatórios de demanda. Escalabilidade: o mapa usa OSM e Leaflet, então abrir uma nova cidade custa pouco. Deixar claro que são hipóteses a validar com vendedores.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(~40s) Fechar com três razões: problema real e grande, MVP já funcional e instalável por APK, custo baixo para escalar. Terminar com a frase final e abrir para perguntas. Se perguntarem sobre R$ 100 mil: primeiro piloto em um bairro, medindo cadastros, buscas e rotas.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montado a partir do código (package.json, services/supabase.ts, components/DeliveryMap.tsx, RouteMap.tsx, cadastro-vendedor.tsx).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Rotas extraídas de app/_layout.tsx e das chamadas router.push/replace. Perfil do vendedor também é aberto por Favoritos, Destaques e Painel.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de entrada do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Modal de filtros aberto a partir da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Cadastro loja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Marcar cada item no ensaio.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ESQUINA · 1. PROBLEMA E QUEM SOFRE</a:t>
            </a:r>
            <a:endParaRPr lang="en-US" sz="1100" dirty="0"/>
          </a:p>
        </p:txBody>
      </p:sp>
      <p:pic>
        <p:nvPicPr>
          <p:cNvPr id="3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vendedor de rua é invisível. O cliente não sabe quem vende agora.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120D"/>
          </a:solidFill>
          <a:ln w="9525">
            <a:solidFill>
              <a:srgbClr val="4A3222"/>
            </a:solidFill>
            <a:prstDash val="solid"/>
          </a:ln>
          <a:effectLst>
            <a:outerShdw blurRad="127000" dist="381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0080" y="2103120"/>
            <a:ext cx="365760" cy="274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sofre: vendedores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212848"/>
            <a:ext cx="22860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Dependem do fluxo de passantes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vitrine nem cardápio online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e horário mudam; clientes não sabem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46120" y="164592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120D"/>
          </a:solidFill>
          <a:ln w="9525">
            <a:solidFill>
              <a:srgbClr val="4A3222"/>
            </a:solidFill>
            <a:prstDash val="solid"/>
          </a:ln>
          <a:effectLst>
            <a:outerShdw blurRad="127000" dist="381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29000" y="2103120"/>
            <a:ext cx="365760" cy="274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2900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sofre: clientes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212848"/>
            <a:ext cx="22860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sabem quem vende por perto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sabem se está aberto agora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avaliações de quem já comprou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1645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035040" y="18288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05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37,5%</a:t>
            </a:r>
            <a:endParaRPr lang="en-US" sz="4400" dirty="0"/>
          </a:p>
        </p:txBody>
      </p:sp>
      <p:sp>
        <p:nvSpPr>
          <p:cNvPr id="17" name="Text 13"/>
          <p:cNvSpPr txBox="1"/>
          <p:nvPr/>
        </p:nvSpPr>
        <p:spPr>
          <a:xfrm>
            <a:off x="617220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0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informalidade no Brasil (≈38,5 mi de pessoas), trimestre até jan/2026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17220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B0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PNAD Contínua/IBGE (conferir em ibge.gov.br antes do pitch)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Esquina conecta vendedores de rua e clientes próximos, em tempo real.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DADOS QUE COMPROVAM O PROBLEMA</a:t>
            </a:r>
            <a:endParaRPr lang="en-US" sz="1100" dirty="0"/>
          </a:p>
        </p:txBody>
      </p:sp>
      <p:pic>
        <p:nvPicPr>
          <p:cNvPr id="3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dados mostram a dimensão do problema e já orientam o que construímos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A120D"/>
          </a:solidFill>
          <a:ln w="9525">
            <a:solidFill>
              <a:srgbClr val="4A3222"/>
            </a:solidFill>
            <a:prstDash val="solid"/>
          </a:ln>
          <a:effectLst>
            <a:outerShdw blurRad="127000" dist="381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0080" y="2103120"/>
            <a:ext cx="365760" cy="274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público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212848"/>
            <a:ext cx="22860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Informalidade: 37,5% dos ocupados (IBGE/PNAD, jan/2026)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desses trabalhadores atua em comércio de rua, sem vitrine digital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46120" y="16459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A120D"/>
          </a:solidFill>
          <a:ln w="9525">
            <a:solidFill>
              <a:srgbClr val="4A3222"/>
            </a:solidFill>
            <a:prstDash val="solid"/>
          </a:ln>
          <a:effectLst>
            <a:outerShdw blurRad="127000" dist="381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29000" y="2103120"/>
            <a:ext cx="365760" cy="274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2900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teste (simulada)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212848"/>
            <a:ext cx="22860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vendedores fictícios em 6 categorias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itens de cardápio, preços de R$ 3 a R$ 38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avaliações e 22 favoritos de teste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Simulada porque o app é acadêmico e não foi aberto ao público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questionário com usuários para validar as hipóteses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6459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A120D"/>
          </a:solidFill>
          <a:ln w="9525">
            <a:solidFill>
              <a:srgbClr val="4A3222"/>
            </a:solidFill>
            <a:prstDash val="solid"/>
          </a:ln>
          <a:effectLst>
            <a:outerShdw blurRad="127000" dist="381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2103120"/>
            <a:ext cx="365760" cy="274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 partir dos dados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217920" y="2212848"/>
            <a:ext cx="22860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categorias de pin no mapa (pizza, hambúrguer, japa, padaria...)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distância, preço médio do cardápio e nota mínima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aparece no mapa quem está ativo e dentro do horário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 4. SOLUÇÃO E DIFERENCIAL</a:t>
            </a:r>
            <a:endParaRPr lang="en-US" sz="1100" dirty="0"/>
          </a:p>
        </p:txBody>
      </p:sp>
      <p:pic>
        <p:nvPicPr>
          <p:cNvPr id="3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mapa vivo de quem está vendendo agora, com rota até o ponto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1A120D"/>
          </a:solidFill>
          <a:ln w="9525">
            <a:solidFill>
              <a:srgbClr val="4A3222"/>
            </a:solidFill>
            <a:prstDash val="solid"/>
          </a:ln>
          <a:effectLst>
            <a:outerShdw blurRad="127000" dist="381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0080" y="2103120"/>
            <a:ext cx="365760" cy="274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755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app faz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212848"/>
            <a:ext cx="35661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com pins por categoria e sua localização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vendedor: horário, cardápio, notas e comentários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Traçar rota até o ponto e contato por WhatsApp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 e avaliações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vendedor: status Online / Offline, promoções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0" y="1645920"/>
            <a:ext cx="4114800" cy="2834640"/>
          </a:xfrm>
          <a:prstGeom prst="roundRect">
            <a:avLst>
              <a:gd name="adj" fmla="val 3226"/>
            </a:avLst>
          </a:prstGeom>
          <a:solidFill>
            <a:srgbClr val="1A120D"/>
          </a:solidFill>
          <a:ln w="9525">
            <a:solidFill>
              <a:srgbClr val="4A3222"/>
            </a:solidFill>
            <a:prstDash val="solid"/>
          </a:ln>
          <a:effectLst>
            <a:outerShdw blurRad="127000" dist="381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2103120"/>
            <a:ext cx="365760" cy="274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5488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2212848"/>
            <a:ext cx="37490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vendedor de rua, não só em loja fixa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em tempo real: o vendedor controla o status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simples, com endereço convertido em coordenada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aberto (OSM/Leaflet): sem custo de licença de mapa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APK: instala sem loja de apps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MVP</a:t>
            </a:r>
            <a:endParaRPr lang="en-US" sz="1100" dirty="0"/>
          </a:p>
        </p:txBody>
      </p:sp>
      <p:pic>
        <p:nvPicPr>
          <p:cNvPr id="3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menor conjunto que prova o valor: achar, avaliar e chegar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17373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920240" y="17373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993392" y="173736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app e permitir localização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3456432" y="1920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657600" y="17373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730752" y="173736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mapa e filtrar categoria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193792" y="1920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394960" y="17373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68112" y="173736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perfil e cardápio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931152" y="1920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7132320" y="17373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205472" y="173736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Traçar rota e avaliar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28346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1920240" y="283464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993392" y="283464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conta de vendedor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3456432" y="3017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3657600" y="283464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730752" y="283464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loja e cardápio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193792" y="3017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5394960" y="283464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68112" y="283464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Painel: ficar Online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6931152" y="3017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7132320" y="283464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205472" y="283464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no mapa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aceitação do MVP: o vendedor liga o status e o cliente o encontra no mapa e chega até ele pela rota.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COMO O PROJETO SERÁ DESENVOLVIDO</a:t>
            </a:r>
            <a:endParaRPr lang="en-US" sz="1100" dirty="0"/>
          </a:p>
        </p:txBody>
      </p:sp>
      <p:pic>
        <p:nvPicPr>
          <p:cNvPr id="3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Scrum em 4 Sprints sobre uma arquitetura enxuta e de baixo custo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1645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+ React Native + TypeScript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429000" y="164592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520440" y="1645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PostgreSQL · Storage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0" y="164592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92240" y="1645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abertos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· OSM/CARTO · OSRM · Nominatim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457200" y="32918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241912"/>
          </a:solidFill>
          <a:ln w="9525">
            <a:solidFill>
              <a:srgbClr val="3A2A2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3291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12/10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base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560320" y="32918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A120D"/>
          </a:solidFill>
          <a:ln w="9525">
            <a:solidFill>
              <a:srgbClr val="3A2A2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651760" y="3291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19/10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funções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663440" y="32918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241912"/>
          </a:solidFill>
          <a:ln w="9525">
            <a:solidFill>
              <a:srgbClr val="3A2A2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0" y="3291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26/10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validação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766560" y="32918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A120D"/>
          </a:solidFill>
          <a:ln w="9525">
            <a:solidFill>
              <a:srgbClr val="3A2A2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3291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· 02/11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melhorias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PRINCIPAIS RISCOS</a:t>
            </a:r>
            <a:endParaRPr lang="en-US" sz="1100" dirty="0"/>
          </a:p>
        </p:txBody>
      </p:sp>
      <p:pic>
        <p:nvPicPr>
          <p:cNvPr id="3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Riscos mapeados, com probabilidade, impacto e resposta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30175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05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05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05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05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9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Poucos vendedores cadastrados (mapa vazio)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Piloto em um bairro; cadastro simples; parceria com associação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desatualizados (vendedor esquece o status)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Respeitar horário de funcionamento; lembrete de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Limites dos serviços gratuitos (OSRM, Nominatim, tiles)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Cache, uso moderado e plano de migração para servidor próprio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do banco (regras de acesso no Supabase)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RLS por tabela antes do piloto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apertado para 4 pessoas em 4 Sprints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E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enxuto, backlog priorizado, daily curta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POTENCIAL DE NEGÓCIO</a:t>
            </a:r>
            <a:endParaRPr lang="en-US" sz="1100" dirty="0"/>
          </a:p>
        </p:txBody>
      </p:sp>
      <p:pic>
        <p:nvPicPr>
          <p:cNvPr id="3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Hipóteses de receita que preservam o acesso gratuito do vendedor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A120D"/>
          </a:solidFill>
          <a:ln w="9525">
            <a:solidFill>
              <a:srgbClr val="4A3222"/>
            </a:solidFill>
            <a:prstDash val="solid"/>
          </a:ln>
          <a:effectLst>
            <a:outerShdw blurRad="127000" dist="381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0080" y="2103120"/>
            <a:ext cx="365760" cy="274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sustenta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212848"/>
            <a:ext cx="22860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 grátis; destaque e promoção pagos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de comércios locais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demanda para associações e prefeituras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46120" y="164592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A120D"/>
          </a:solidFill>
          <a:ln w="9525">
            <a:solidFill>
              <a:srgbClr val="4A3222"/>
            </a:solidFill>
            <a:prstDash val="solid"/>
          </a:ln>
          <a:effectLst>
            <a:outerShdw blurRad="127000" dist="381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29000" y="2103120"/>
            <a:ext cx="365760" cy="274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2900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212848"/>
            <a:ext cx="22860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aberto: baixo custo por cidade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modelo serve feiras, food trucks e eventos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gerenciado (Supabase) cresce por demanda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164592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A120D"/>
          </a:solidFill>
          <a:ln w="9525">
            <a:solidFill>
              <a:srgbClr val="4A3222"/>
            </a:solidFill>
            <a:prstDash val="solid"/>
          </a:ln>
          <a:effectLst>
            <a:outerShdw blurRad="127000" dist="381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2103120"/>
            <a:ext cx="365760" cy="274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217920" y="2212848"/>
            <a:ext cx="22860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com vendedores de um bairro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Medir: cadastros, buscas e rotas traçadas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disposição a pagar por destaque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receita é hipótese a validar, não resultado já comprovado.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OBRIGATÓRIA</a:t>
            </a:r>
            <a:endParaRPr lang="en-US" sz="1100" dirty="0"/>
          </a:p>
        </p:txBody>
      </p:sp>
      <p:pic>
        <p:nvPicPr>
          <p:cNvPr id="3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vale a pena investir tempo e recursos no Na Esquina?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05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169164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real e grande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informalidade é alta e o vendedor de rua segue invisível no digital.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05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651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 MVP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com mapa, cardápio, rota e painel do vendedor, instalável por APK.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3703320"/>
            <a:ext cx="640080" cy="640080"/>
          </a:xfrm>
          <a:prstGeom prst="ellipse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05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3611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 de escalar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aberta e backend gerenciado: crescer não exige reescrever.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Esquina: comida de rua a um toque de distância.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BLOCO H · DIAGRAMA DE ARQUITETURA TÉCNICA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Mobile → Supabase → OpenStreetMap / Leaflet</a:t>
            </a:r>
            <a:endParaRPr lang="en-US" sz="2200" dirty="0"/>
          </a:p>
        </p:txBody>
      </p:sp>
      <p:pic>
        <p:nvPicPr>
          <p:cNvPr id="4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32588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59436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 Mobile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7830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 + React Native 0.81 + TypeScript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(navegação por arquivos)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expo-location: GPS do usuário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react-native-maps: rota no Android/iOS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expo-image-picker: foto da loja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global (LocationContext): filtros e lista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429000" y="1325880"/>
            <a:ext cx="2286000" cy="2514600"/>
          </a:xfrm>
          <a:prstGeom prst="roundRect">
            <a:avLst>
              <a:gd name="adj" fmla="val 4000"/>
            </a:avLst>
          </a:prstGeom>
          <a:solidFill>
            <a:srgbClr val="1A120D"/>
          </a:solidFill>
          <a:ln w="12700">
            <a:solidFill>
              <a:srgbClr val="6FB3A8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3566160" y="1389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Supabase (backend)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566160" y="17830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e-mail e senha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restaurantes, cardapios, categorias, avaliacoes, favoritos, usuarios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bucket imagens-lojas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32588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1A120D"/>
          </a:solidFill>
          <a:ln w="12700">
            <a:solidFill>
              <a:srgbClr val="8FB8DE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17220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Mapas abertos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172200" y="17830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1.9.4 (mapa e marcadores)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CARTO dark, dados OpenStreetMap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OSRM: cálculo de rota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Nominatim: endereço → latitude/longitude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SVG por categoria (10 nichos)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108960" y="2286000"/>
            <a:ext cx="320040" cy="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108960" y="2743200"/>
            <a:ext cx="320040" cy="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715000" y="2286000"/>
            <a:ext cx="320040" cy="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57200" y="411480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241912"/>
          </a:solidFill>
          <a:ln w="12700">
            <a:solidFill>
              <a:srgbClr val="3A2A2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59436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Distribuição: EAS Build gera o APK (link no PDF da pasta Apk). Testes via Expo Go. App e Supabase conversam por supabase-js (HTTPS).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0" y="411480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241912"/>
          </a:solidFill>
          <a:ln w="12700">
            <a:solidFill>
              <a:srgbClr val="3A2A2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4709160" y="4114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dado: o vendedor altera status no Supabase; o app lista só lojas ativas (offline = false) e no horário.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BLOCO H · DIAGRAMA DE FLUXO DE NAVEGAÇÃO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usuário transita entre as telas</a:t>
            </a:r>
            <a:endParaRPr lang="en-US" sz="2200" dirty="0"/>
          </a:p>
        </p:txBody>
      </p:sp>
      <p:pic>
        <p:nvPicPr>
          <p:cNvPr id="4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26517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27432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1920240" y="26517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192024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Mapa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B0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(tabs)/index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749040" y="118872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374904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749040" y="192024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374904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749040" y="26517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374904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vendedor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/vendedor/[id]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49040" y="33832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374904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/favoritos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749040" y="41148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3749040" y="4114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/membros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0" y="118872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548640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/cadastro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0" y="26517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548640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/rota/[id]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315200" y="118872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731520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da loja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/cadastro-vendedor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315200" y="192024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31520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vendedor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/painel-vendedor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1920240" y="41148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A120D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1920240" y="4114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na Home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1645920" y="2926080"/>
            <a:ext cx="274320" cy="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 flipV="1">
            <a:off x="3291840" y="1463040"/>
            <a:ext cx="457200" cy="132588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 flipV="1">
            <a:off x="3291840" y="2194560"/>
            <a:ext cx="457200" cy="68580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3291840" y="2926080"/>
            <a:ext cx="457200" cy="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3291840" y="2971800"/>
            <a:ext cx="457200" cy="68580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3291840" y="3063240"/>
            <a:ext cx="457200" cy="132588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2606040" y="3200400"/>
            <a:ext cx="0" cy="91440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5120640" y="1463040"/>
            <a:ext cx="365760" cy="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6858000" y="1463040"/>
            <a:ext cx="457200" cy="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8001000" y="1737360"/>
            <a:ext cx="0" cy="18288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 flipV="1">
            <a:off x="5120640" y="2194560"/>
            <a:ext cx="2194560" cy="9144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5120640" y="2926080"/>
            <a:ext cx="365760" cy="0"/>
          </a:xfrm>
          <a:prstGeom prst="line">
            <a:avLst/>
          </a:prstGeom>
          <a:noFill/>
          <a:ln w="19050">
            <a:solidFill>
              <a:srgbClr val="D97941"/>
            </a:solidFill>
            <a:prstDash val="solid"/>
            <a:tailEnd type="triangle"/>
          </a:ln>
        </p:spPr>
      </p:sp>
      <p:sp>
        <p:nvSpPr>
          <p:cNvPr id="42" name="Text 38"/>
          <p:cNvSpPr txBox="1"/>
          <p:nvPr/>
        </p:nvSpPr>
        <p:spPr>
          <a:xfrm>
            <a:off x="5394960" y="3657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 seta = navegação. Sem login, o usuário navega no mapa; login/cadastro só são exigidos para favoritar, avaliar e para o vendedor. A barra inferior (GlassNav) leva a Início, Favoritos, Membros e Conta.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539496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como vendedor leva ao Cadastro da loja.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BLOCO H · CATÁLOGO DE TELAS · 1/7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2200" dirty="0"/>
          </a:p>
        </p:txBody>
      </p:sp>
      <p:pic>
        <p:nvPicPr>
          <p:cNvPr id="4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280160"/>
            <a:ext cx="2011680" cy="3611880"/>
          </a:xfrm>
          <a:prstGeom prst="roundRect">
            <a:avLst>
              <a:gd name="adj" fmla="val 4545"/>
            </a:avLst>
          </a:prstGeom>
          <a:solidFill>
            <a:srgbClr val="120A07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170432" y="1325880"/>
            <a:ext cx="585216" cy="54864"/>
          </a:xfrm>
          <a:prstGeom prst="roundRect">
            <a:avLst>
              <a:gd name="adj" fmla="val 50000"/>
            </a:avLst>
          </a:prstGeom>
          <a:solidFill>
            <a:srgbClr val="3A2A20"/>
          </a:solidFill>
          <a:ln w="12700">
            <a:solidFill>
              <a:srgbClr val="3A2A2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88720" y="484632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4A3222"/>
          </a:solidFill>
          <a:ln w="12700">
            <a:solidFill>
              <a:srgbClr val="4A3222"/>
            </a:solidFill>
            <a:prstDash val="solid"/>
          </a:ln>
        </p:spPr>
      </p:sp>
      <p:pic>
        <p:nvPicPr>
          <p:cNvPr id="9" name="Image 1" descr="img/login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125980"/>
            <a:ext cx="1920240" cy="19202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743200" y="1280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app/login.tsx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743200" y="1965960"/>
            <a:ext cx="5943600" cy="2926080"/>
          </a:xfrm>
          <a:prstGeom prst="roundRect">
            <a:avLst>
              <a:gd name="adj" fmla="val 3125"/>
            </a:avLst>
          </a:prstGeom>
          <a:solidFill>
            <a:srgbClr val="1A120D"/>
          </a:solidFill>
          <a:ln w="12700">
            <a:solidFill>
              <a:srgbClr val="3A2A2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2926080" y="2029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 de funcionalidades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2359152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 e-mail e senha, com botão de olho para mostrar/ocultar a senha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campos vazios e formato de e-mail antes de enviar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a conexão com a internet e mostra aviso se estiver offline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 no Supabase Auth e entra na Home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Cadastrar e Voltar para o app (uso sem login)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BLOCO H · CATÁLOGO DE TELAS · 2/7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com mapa e marcadores</a:t>
            </a:r>
            <a:endParaRPr lang="en-US" sz="2200" dirty="0"/>
          </a:p>
        </p:txBody>
      </p:sp>
      <p:pic>
        <p:nvPicPr>
          <p:cNvPr id="4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280160"/>
            <a:ext cx="2011680" cy="3611880"/>
          </a:xfrm>
          <a:prstGeom prst="roundRect">
            <a:avLst>
              <a:gd name="adj" fmla="val 4545"/>
            </a:avLst>
          </a:prstGeom>
          <a:solidFill>
            <a:srgbClr val="120A07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170432" y="1325880"/>
            <a:ext cx="585216" cy="54864"/>
          </a:xfrm>
          <a:prstGeom prst="roundRect">
            <a:avLst>
              <a:gd name="adj" fmla="val 50000"/>
            </a:avLst>
          </a:prstGeom>
          <a:solidFill>
            <a:srgbClr val="3A2A20"/>
          </a:solidFill>
          <a:ln w="12700">
            <a:solidFill>
              <a:srgbClr val="3A2A2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88720" y="484632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4A3222"/>
          </a:solidFill>
          <a:ln w="12700">
            <a:solidFill>
              <a:srgbClr val="4A3222"/>
            </a:solidFill>
            <a:prstDash val="solid"/>
          </a:ln>
        </p:spPr>
      </p:sp>
      <p:pic>
        <p:nvPicPr>
          <p:cNvPr id="9" name="Image 1" descr="img/home_c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41" y="1325880"/>
            <a:ext cx="1584198" cy="35204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743200" y="1280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app/(tabs)/index.tsx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restaurantes, cardapios, categorias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743200" y="1965960"/>
            <a:ext cx="5943600" cy="2926080"/>
          </a:xfrm>
          <a:prstGeom prst="roundRect">
            <a:avLst>
              <a:gd name="adj" fmla="val 3125"/>
            </a:avLst>
          </a:prstGeom>
          <a:solidFill>
            <a:srgbClr val="1A120D"/>
          </a:solidFill>
          <a:ln w="12700">
            <a:solidFill>
              <a:srgbClr val="3A2A2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2926080" y="2029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 de funcionalidades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2359152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nome, botão de filtros e botão de conta no topo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 de categoria (carregadas da tabela categorias)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Leaflet com pins por categoria; mapa expansível; toque no pin traça rota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aparecem lojas ativas e dentro do horário de funcionamento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(FeaturedCard) e lista de cards; barra inferior com Início, Favoritos, Membros e Conta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BLOCO H · CATÁLOGO DE TELAS · 3/7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Filtros</a:t>
            </a:r>
            <a:endParaRPr lang="en-US" sz="2200" dirty="0"/>
          </a:p>
        </p:txBody>
      </p:sp>
      <p:pic>
        <p:nvPicPr>
          <p:cNvPr id="4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280160"/>
            <a:ext cx="2011680" cy="3611880"/>
          </a:xfrm>
          <a:prstGeom prst="roundRect">
            <a:avLst>
              <a:gd name="adj" fmla="val 4545"/>
            </a:avLst>
          </a:prstGeom>
          <a:solidFill>
            <a:srgbClr val="120A07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170432" y="1325880"/>
            <a:ext cx="585216" cy="54864"/>
          </a:xfrm>
          <a:prstGeom prst="roundRect">
            <a:avLst>
              <a:gd name="adj" fmla="val 50000"/>
            </a:avLst>
          </a:prstGeom>
          <a:solidFill>
            <a:srgbClr val="3A2A20"/>
          </a:solidFill>
          <a:ln w="12700">
            <a:solidFill>
              <a:srgbClr val="3A2A2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88720" y="484632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4A3222"/>
          </a:solidFill>
          <a:ln w="12700">
            <a:solidFill>
              <a:srgbClr val="4A3222"/>
            </a:solidFill>
            <a:prstDash val="solid"/>
          </a:ln>
        </p:spPr>
      </p:sp>
      <p:pic>
        <p:nvPicPr>
          <p:cNvPr id="9" name="Image 1" descr="img/filtr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068469"/>
            <a:ext cx="1920240" cy="203526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743200" y="1280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components/FilterModal.tsx (modal da Home)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LocationContext (restaurantes + localização)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743200" y="1965960"/>
            <a:ext cx="5943600" cy="2057400"/>
          </a:xfrm>
          <a:prstGeom prst="roundRect">
            <a:avLst>
              <a:gd name="adj" fmla="val 4444"/>
            </a:avLst>
          </a:prstGeom>
          <a:solidFill>
            <a:srgbClr val="1A120D"/>
          </a:solidFill>
          <a:ln w="12700">
            <a:solidFill>
              <a:srgbClr val="3A2A2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2926080" y="2029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 de funcionalidades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2359152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da lista (relevância e outras opções)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mínima, distância máxima (a partir do GPS) e preço médio máximo (média do cardápio)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persistem no LocationContext enquanto o app está aberto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BLOCO H · CATÁLOGO DE TELAS · 4/7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 do vendedor e cardápio</a:t>
            </a:r>
            <a:endParaRPr lang="en-US" sz="2200" dirty="0"/>
          </a:p>
        </p:txBody>
      </p:sp>
      <p:pic>
        <p:nvPicPr>
          <p:cNvPr id="4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280160"/>
            <a:ext cx="2011680" cy="3611880"/>
          </a:xfrm>
          <a:prstGeom prst="roundRect">
            <a:avLst>
              <a:gd name="adj" fmla="val 4545"/>
            </a:avLst>
          </a:prstGeom>
          <a:solidFill>
            <a:srgbClr val="120A07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170432" y="1325880"/>
            <a:ext cx="585216" cy="54864"/>
          </a:xfrm>
          <a:prstGeom prst="roundRect">
            <a:avLst>
              <a:gd name="adj" fmla="val 50000"/>
            </a:avLst>
          </a:prstGeom>
          <a:solidFill>
            <a:srgbClr val="3A2A20"/>
          </a:solidFill>
          <a:ln w="12700">
            <a:solidFill>
              <a:srgbClr val="3A2A2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88720" y="484632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4A3222"/>
          </a:solidFill>
          <a:ln w="12700">
            <a:solidFill>
              <a:srgbClr val="4A322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1371600"/>
            <a:ext cx="1792224" cy="685800"/>
          </a:xfrm>
          <a:prstGeom prst="roundRect">
            <a:avLst>
              <a:gd name="adj" fmla="val 6667"/>
            </a:avLst>
          </a:prstGeom>
          <a:solidFill>
            <a:srgbClr val="3A2A20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66928" y="137160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Foto da loja ]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612648" y="210312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loja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12648" y="230428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4,8 · Online · 1,1 km · 18h às 23h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612648" y="2523744"/>
            <a:ext cx="841248" cy="237744"/>
          </a:xfrm>
          <a:prstGeom prst="roundRect">
            <a:avLst>
              <a:gd name="adj" fmla="val 19231"/>
            </a:avLst>
          </a:prstGeom>
          <a:solidFill>
            <a:srgbClr val="D97941"/>
          </a:solidFill>
          <a:ln w="9525">
            <a:solidFill>
              <a:srgbClr val="D9794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2648" y="25237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0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Traçar rota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1508760" y="2523744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0B0503"/>
          </a:solidFill>
          <a:ln w="9525">
            <a:solidFill>
              <a:srgbClr val="D9794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508760" y="252374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612648" y="281635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2648" y="3017520"/>
            <a:ext cx="1700784" cy="237744"/>
          </a:xfrm>
          <a:prstGeom prst="roundRect">
            <a:avLst>
              <a:gd name="adj" fmla="val 19231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76656" y="3017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1572768" y="30175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R$ 8,00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612648" y="3291840"/>
            <a:ext cx="1700784" cy="237744"/>
          </a:xfrm>
          <a:prstGeom prst="roundRect">
            <a:avLst>
              <a:gd name="adj" fmla="val 19231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76656" y="3291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1572768" y="32918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R$ 12,00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612648" y="3566160"/>
            <a:ext cx="1700784" cy="237744"/>
          </a:xfrm>
          <a:prstGeom prst="roundRect">
            <a:avLst>
              <a:gd name="adj" fmla="val 19231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76656" y="3566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572768" y="35661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R$ 6,00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612648" y="385876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12648" y="4059936"/>
            <a:ext cx="1700784" cy="502920"/>
          </a:xfrm>
          <a:prstGeom prst="roundRect">
            <a:avLst>
              <a:gd name="adj" fmla="val 9091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76656" y="4059936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 “Comentário do cliente…”</a:t>
            </a:r>
            <a:endParaRPr lang="en-US" sz="750" dirty="0"/>
          </a:p>
        </p:txBody>
      </p:sp>
      <p:sp>
        <p:nvSpPr>
          <p:cNvPr id="31" name="Text 27"/>
          <p:cNvSpPr txBox="1"/>
          <p:nvPr/>
        </p:nvSpPr>
        <p:spPr>
          <a:xfrm>
            <a:off x="612648" y="4590288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♡ Favoritar   ·   Avaliar</a:t>
            </a:r>
            <a:endParaRPr lang="en-US" sz="750" dirty="0"/>
          </a:p>
        </p:txBody>
      </p:sp>
      <p:sp>
        <p:nvSpPr>
          <p:cNvPr id="32" name="Text 28"/>
          <p:cNvSpPr txBox="1"/>
          <p:nvPr/>
        </p:nvSpPr>
        <p:spPr>
          <a:xfrm>
            <a:off x="2743200" y="1280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app/vendedor/[id].tsx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restaurantes, cardapios, avaliacoes, favoritos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2743200" y="1965960"/>
            <a:ext cx="5943600" cy="2514600"/>
          </a:xfrm>
          <a:prstGeom prst="roundRect">
            <a:avLst>
              <a:gd name="adj" fmla="val 3636"/>
            </a:avLst>
          </a:prstGeom>
          <a:solidFill>
            <a:srgbClr val="1A120D"/>
          </a:solidFill>
          <a:ln w="12700">
            <a:solidFill>
              <a:srgbClr val="3A2A2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4" name="Text 30"/>
          <p:cNvSpPr txBox="1"/>
          <p:nvPr/>
        </p:nvSpPr>
        <p:spPr>
          <a:xfrm>
            <a:off x="2926080" y="2029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 de funcionalidades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2926080" y="2359152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horário de funcionamento e avaliação média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e estrelas dos clientes; cliente logado pode avaliar e favoritar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Traçar rota e WhatsApp (ativo quando há telefone válido)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Produtos / cardápio com nome, preço e nota por item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BLOCO H · CATÁLOGO DE TELAS · 5/7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 até o vendedor</a:t>
            </a:r>
            <a:endParaRPr lang="en-US" sz="2200" dirty="0"/>
          </a:p>
        </p:txBody>
      </p:sp>
      <p:pic>
        <p:nvPicPr>
          <p:cNvPr id="4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280160"/>
            <a:ext cx="2011680" cy="3611880"/>
          </a:xfrm>
          <a:prstGeom prst="roundRect">
            <a:avLst>
              <a:gd name="adj" fmla="val 4545"/>
            </a:avLst>
          </a:prstGeom>
          <a:solidFill>
            <a:srgbClr val="120A07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170432" y="1325880"/>
            <a:ext cx="585216" cy="54864"/>
          </a:xfrm>
          <a:prstGeom prst="roundRect">
            <a:avLst>
              <a:gd name="adj" fmla="val 50000"/>
            </a:avLst>
          </a:prstGeom>
          <a:solidFill>
            <a:srgbClr val="3A2A20"/>
          </a:solidFill>
          <a:ln w="12700">
            <a:solidFill>
              <a:srgbClr val="3A2A2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88720" y="484632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4A3222"/>
          </a:solidFill>
          <a:ln w="12700">
            <a:solidFill>
              <a:srgbClr val="4A322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" y="135331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Voltar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66928" y="1627632"/>
            <a:ext cx="1792224" cy="2606040"/>
          </a:xfrm>
          <a:prstGeom prst="roundRect">
            <a:avLst>
              <a:gd name="adj" fmla="val 2551"/>
            </a:avLst>
          </a:prstGeom>
          <a:solidFill>
            <a:srgbClr val="1B16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24128" y="2103120"/>
            <a:ext cx="914400" cy="1554480"/>
          </a:xfrm>
          <a:prstGeom prst="line">
            <a:avLst/>
          </a:prstGeom>
          <a:noFill/>
          <a:ln w="31750">
            <a:solidFill>
              <a:srgbClr val="D97941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932688" y="2011680"/>
            <a:ext cx="182880" cy="182880"/>
          </a:xfrm>
          <a:prstGeom prst="ellipse">
            <a:avLst/>
          </a:prstGeom>
          <a:solidFill>
            <a:srgbClr val="D97941"/>
          </a:solidFill>
          <a:ln w="12700">
            <a:solidFill>
              <a:srgbClr val="F2E4D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161288" y="19659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1847088" y="3611880"/>
            <a:ext cx="182880" cy="182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2E4D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24128" y="36576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566928" y="4315968"/>
            <a:ext cx="1792224" cy="457200"/>
          </a:xfrm>
          <a:prstGeom prst="roundRect">
            <a:avLst>
              <a:gd name="adj" fmla="val 10000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008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até o vendedor · 1,1 km · ~14 min a pé</a:t>
            </a:r>
            <a:endParaRPr lang="en-US" sz="750" dirty="0"/>
          </a:p>
        </p:txBody>
      </p:sp>
      <p:sp>
        <p:nvSpPr>
          <p:cNvPr id="19" name="Text 15"/>
          <p:cNvSpPr txBox="1"/>
          <p:nvPr/>
        </p:nvSpPr>
        <p:spPr>
          <a:xfrm>
            <a:off x="2743200" y="1280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app/rota/[id].tsx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(rota) + GPS do usuário + categorias (pin)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43200" y="1965960"/>
            <a:ext cx="5943600" cy="2514600"/>
          </a:xfrm>
          <a:prstGeom prst="roundRect">
            <a:avLst>
              <a:gd name="adj" fmla="val 3636"/>
            </a:avLst>
          </a:prstGeom>
          <a:solidFill>
            <a:srgbClr val="1A120D"/>
          </a:solidFill>
          <a:ln w="12700">
            <a:solidFill>
              <a:srgbClr val="3A2A2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2926080" y="2029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 de funcionalidades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926080" y="2359152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posição do usuário e do vendedor com o pin da categoria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da rota calculada pelo OSRM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permissão de localização se ainda não concedida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 retorna ao perfil do vendedor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BLOCO H · CATÁLOGO DE TELAS · 6/7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Painel do vendedor: status Online / Offline</a:t>
            </a:r>
            <a:endParaRPr lang="en-US" sz="2200" dirty="0"/>
          </a:p>
        </p:txBody>
      </p:sp>
      <p:pic>
        <p:nvPicPr>
          <p:cNvPr id="4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280160"/>
            <a:ext cx="2011680" cy="3611880"/>
          </a:xfrm>
          <a:prstGeom prst="roundRect">
            <a:avLst>
              <a:gd name="adj" fmla="val 4545"/>
            </a:avLst>
          </a:prstGeom>
          <a:solidFill>
            <a:srgbClr val="120A07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170432" y="1325880"/>
            <a:ext cx="585216" cy="54864"/>
          </a:xfrm>
          <a:prstGeom prst="roundRect">
            <a:avLst>
              <a:gd name="adj" fmla="val 50000"/>
            </a:avLst>
          </a:prstGeom>
          <a:solidFill>
            <a:srgbClr val="3A2A20"/>
          </a:solidFill>
          <a:ln w="12700">
            <a:solidFill>
              <a:srgbClr val="3A2A2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88720" y="484632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4A3222"/>
          </a:solidFill>
          <a:ln w="12700">
            <a:solidFill>
              <a:srgbClr val="4A322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" y="14447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vendedor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1783080"/>
            <a:ext cx="1792224" cy="502920"/>
          </a:xfrm>
          <a:prstGeom prst="roundRect">
            <a:avLst>
              <a:gd name="adj" fmla="val 9091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loja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664208" y="1911096"/>
            <a:ext cx="603504" cy="237744"/>
          </a:xfrm>
          <a:prstGeom prst="roundRect">
            <a:avLst>
              <a:gd name="adj" fmla="val 50000"/>
            </a:avLst>
          </a:prstGeom>
          <a:solidFill>
            <a:srgbClr val="1F3A2A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664208" y="191109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BD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Online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66928" y="2377440"/>
            <a:ext cx="1792224" cy="457200"/>
          </a:xfrm>
          <a:prstGeom prst="roundRect">
            <a:avLst>
              <a:gd name="adj" fmla="val 10000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8368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Visível no mapa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1481328" y="2478024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D97941"/>
          </a:solidFill>
          <a:ln w="9525">
            <a:solidFill>
              <a:srgbClr val="D9794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481328" y="247802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0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⏻  Offline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66928" y="2926080"/>
            <a:ext cx="1792224" cy="292608"/>
          </a:xfrm>
          <a:prstGeom prst="roundRect">
            <a:avLst>
              <a:gd name="adj" fmla="val 15625"/>
            </a:avLst>
          </a:prstGeom>
          <a:solidFill>
            <a:srgbClr val="0B0503"/>
          </a:solidFill>
          <a:ln w="9525">
            <a:solidFill>
              <a:srgbClr val="D9794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66928" y="29260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Inativar restaurante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66928" y="3364992"/>
            <a:ext cx="1792224" cy="310896"/>
          </a:xfrm>
          <a:prstGeom prst="roundRect">
            <a:avLst>
              <a:gd name="adj" fmla="val 14706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8368" y="336499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loja e cardápio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2084832" y="336499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66928" y="3749040"/>
            <a:ext cx="1792224" cy="310896"/>
          </a:xfrm>
          <a:prstGeom prst="roundRect">
            <a:avLst>
              <a:gd name="adj" fmla="val 14706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58368" y="374904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perfil público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2084832" y="3749040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66928" y="4133088"/>
            <a:ext cx="1792224" cy="310896"/>
          </a:xfrm>
          <a:prstGeom prst="roundRect">
            <a:avLst>
              <a:gd name="adj" fmla="val 14706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8368" y="4133088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e promoções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2084832" y="413308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2743200" y="1280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app/painel-vendedor.tsx e components/VendorDashboard.tsx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restaurantes (colunas status e offline), usuarios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2743200" y="1965960"/>
            <a:ext cx="5943600" cy="2514600"/>
          </a:xfrm>
          <a:prstGeom prst="roundRect">
            <a:avLst>
              <a:gd name="adj" fmla="val 3636"/>
            </a:avLst>
          </a:prstGeom>
          <a:solidFill>
            <a:srgbClr val="1A120D"/>
          </a:solidFill>
          <a:ln w="12700">
            <a:solidFill>
              <a:srgbClr val="3A2A2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2926080" y="2029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 de funcionalidades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2926080" y="2359152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Online / Offline da loja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Offline / Online altera o status da loja: é o botão de Aberto/Fechado do MVP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Inativar / Reativar restaurante altera a coluna offline (some da lista e do mapa)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 para editar a loja, ver o perfil público e gerenciar Destaques e promoções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BLOCO H · CATÁLOGO DE TELAS · 7/7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Cadastro da loja e cardápio</a:t>
            </a:r>
            <a:endParaRPr lang="en-US" sz="2200" dirty="0"/>
          </a:p>
        </p:txBody>
      </p:sp>
      <p:pic>
        <p:nvPicPr>
          <p:cNvPr id="4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280160"/>
            <a:ext cx="2011680" cy="3611880"/>
          </a:xfrm>
          <a:prstGeom prst="roundRect">
            <a:avLst>
              <a:gd name="adj" fmla="val 4545"/>
            </a:avLst>
          </a:prstGeom>
          <a:solidFill>
            <a:srgbClr val="120A07"/>
          </a:solidFill>
          <a:ln w="12700">
            <a:solidFill>
              <a:srgbClr val="D97941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170432" y="1325880"/>
            <a:ext cx="585216" cy="54864"/>
          </a:xfrm>
          <a:prstGeom prst="roundRect">
            <a:avLst>
              <a:gd name="adj" fmla="val 50000"/>
            </a:avLst>
          </a:prstGeom>
          <a:solidFill>
            <a:srgbClr val="3A2A20"/>
          </a:solidFill>
          <a:ln w="12700">
            <a:solidFill>
              <a:srgbClr val="3A2A2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88720" y="484632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4A3222"/>
          </a:solidFill>
          <a:ln w="12700">
            <a:solidFill>
              <a:srgbClr val="4A322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" y="135331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da loja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162763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loja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566928" y="1764792"/>
            <a:ext cx="1792224" cy="219456"/>
          </a:xfrm>
          <a:prstGeom prst="roundRect">
            <a:avLst>
              <a:gd name="adj" fmla="val 20833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66928" y="201168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 (categoria)  ▾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566928" y="2148840"/>
            <a:ext cx="1792224" cy="219456"/>
          </a:xfrm>
          <a:prstGeom prst="roundRect">
            <a:avLst>
              <a:gd name="adj" fmla="val 20833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66928" y="2395728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566928" y="2532888"/>
            <a:ext cx="1792224" cy="219456"/>
          </a:xfrm>
          <a:prstGeom prst="roundRect">
            <a:avLst>
              <a:gd name="adj" fmla="val 20833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66928" y="2779776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566928" y="2916936"/>
            <a:ext cx="850392" cy="219456"/>
          </a:xfrm>
          <a:prstGeom prst="roundRect">
            <a:avLst>
              <a:gd name="adj" fmla="val 20833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66928" y="291693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1508760" y="2916936"/>
            <a:ext cx="850392" cy="219456"/>
          </a:xfrm>
          <a:prstGeom prst="roundRect">
            <a:avLst>
              <a:gd name="adj" fmla="val 20833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508760" y="291693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23:00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566928" y="320040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(vira latitude/longitude)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566928" y="3337560"/>
            <a:ext cx="1792224" cy="219456"/>
          </a:xfrm>
          <a:prstGeom prst="roundRect">
            <a:avLst>
              <a:gd name="adj" fmla="val 20833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66928" y="3730752"/>
            <a:ext cx="1792224" cy="384048"/>
          </a:xfrm>
          <a:prstGeom prst="roundRect">
            <a:avLst>
              <a:gd name="adj" fmla="val 11905"/>
            </a:avLst>
          </a:prstGeom>
          <a:solidFill>
            <a:srgbClr val="1B16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66928" y="373075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+ Foto da loja ]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566928" y="4169664"/>
            <a:ext cx="1792224" cy="237744"/>
          </a:xfrm>
          <a:prstGeom prst="roundRect">
            <a:avLst>
              <a:gd name="adj" fmla="val 19231"/>
            </a:avLst>
          </a:prstGeom>
          <a:solidFill>
            <a:srgbClr val="241912"/>
          </a:solidFill>
          <a:ln w="9525">
            <a:solidFill>
              <a:srgbClr val="4A382B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40080" y="41696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Adicionar item ao cardápio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566928" y="4480560"/>
            <a:ext cx="1792224" cy="292608"/>
          </a:xfrm>
          <a:prstGeom prst="roundRect">
            <a:avLst>
              <a:gd name="adj" fmla="val 15625"/>
            </a:avLst>
          </a:prstGeom>
          <a:solidFill>
            <a:srgbClr val="D97941"/>
          </a:solidFill>
          <a:ln w="9525">
            <a:solidFill>
              <a:srgbClr val="D97941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66928" y="44805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2743200" y="1280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app/cadastro-vendedor.tsx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dados: </a:t>
            </a:r>
            <a:r>
              <a:rPr lang="en-US" sz="110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restaurantes, cardapios, categorias + Storage imagens-lojas + Nominatim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2743200" y="1965960"/>
            <a:ext cx="5943600" cy="2926080"/>
          </a:xfrm>
          <a:prstGeom prst="roundRect">
            <a:avLst>
              <a:gd name="adj" fmla="val 3125"/>
            </a:avLst>
          </a:prstGeom>
          <a:solidFill>
            <a:srgbClr val="1A120D"/>
          </a:solidFill>
          <a:ln w="12700">
            <a:solidFill>
              <a:srgbClr val="3A2A2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2926080" y="2029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 de funcionalidades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2926080" y="2359152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nicho (categoria), telefone e horário em 24h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do ponto convertido em latitude/longitude pelo Nominatim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 foto da loja para o Storage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itens ao cardápio (nome, preço, foto)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leva ao Painel do vendedor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BLOCO H · AMBIENTE DE DEMONSTRAÇÃO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E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da demo do pitch (06/10)</a:t>
            </a:r>
            <a:endParaRPr lang="en-US" sz="2200" dirty="0"/>
          </a:p>
        </p:txBody>
      </p:sp>
      <p:pic>
        <p:nvPicPr>
          <p:cNvPr id="4" name="Image 0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"/>
            <a:ext cx="1371600" cy="3383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12801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APK instalado no celular (link no PDF da pasta Apk) e aberto uma vez antes de apresentar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Internet estável + hotspot de reserva (login, mapa, OSRM e Nominatim precisam de rede)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Permissão de localização concedida e GPS ligado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Conta de cliente e conta de vendedor já criadas e testadas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Pelo menos 3 vendedores ativos no mapa, em categorias diferentes, dentro do horário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Roteiro: Mapa → Perfil/cardápio → Traçar rota → Painel → ficar Online → ver o pin aparecer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Espelhamento de tela testado (cabo/Chromecast) e brilho no máximo; modo Não Perturbe ligado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Backup: prints e vídeo curto da demo nos slides, caso a rede caia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Testar o mapa da Home no APK Android: o componente usa iframe e pode não renderizar fora da web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2670</Words>
  <Application>Microsoft Office PowerPoint</Application>
  <PresentationFormat>Apresentação na tela (16:9)</PresentationFormat>
  <Paragraphs>344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 Esquina - Pitch e Bloco H</dc:title>
  <dc:subject>PptxGenJS Presentation</dc:subject>
  <dc:creator>Diogo</dc:creator>
  <cp:lastModifiedBy>Luciana Ramalho</cp:lastModifiedBy>
  <cp:revision>2</cp:revision>
  <dcterms:created xsi:type="dcterms:W3CDTF">2026-10-06T16:48:07Z</dcterms:created>
  <dcterms:modified xsi:type="dcterms:W3CDTF">2026-10-06T16:51:21Z</dcterms:modified>
</cp:coreProperties>
</file>